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01200" y="-274320"/>
            <a:ext cx="3474720" cy="3474720"/>
          </a:xfrm>
          <a:prstGeom prst="roundRect">
            <a:avLst/>
          </a:prstGeom>
          <a:gradFill>
            <a:gsLst>
              <a:gs pos="0">
                <a:srgbClr val="1D9E75"/>
              </a:gs>
              <a:gs pos="100000">
                <a:srgbClr val="04342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15600" y="274320"/>
            <a:ext cx="1645920" cy="164592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85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3200400" cy="3657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6492240"/>
            <a:ext cx="914400" cy="36576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005840"/>
            <a:ext cx="2926080" cy="384048"/>
          </a:xfrm>
          <a:prstGeom prst="roundRect">
            <a:avLst>
              <a:gd name="adj" fmla="val 21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5156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AGRITECH D'AFRIQUE DE L'OUEST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Segoe UI Black"/>
              </a:rPr>
              <a:t>ANDD BAAY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6324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1">
                <a:solidFill>
                  <a:srgbClr val="9FE1CB"/>
                </a:solidFill>
                <a:latin typeface="Segoe UI"/>
              </a:rPr>
              <a:t>L'agriculture de demain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639312"/>
            <a:ext cx="4114800" cy="50292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822191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F9F27"/>
                </a:solidFill>
                <a:latin typeface="Segoe UI"/>
              </a:rPr>
              <a:t>STRATÉGIE DE LANCEMENT, TARIFICATION &amp; EXPÉRIENCE UTILISATEUR (UX)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63440"/>
            <a:ext cx="2834640" cy="502920"/>
          </a:xfrm>
          <a:prstGeom prst="roundRect">
            <a:avLst>
              <a:gd name="adj" fmla="val 27000"/>
            </a:avLst>
          </a:prstGeom>
          <a:solidFill>
            <a:srgbClr val="0D6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70001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9FE1CB"/>
                </a:solidFill>
                <a:latin typeface="Segoe UI"/>
              </a:rPr>
              <a:t>MARCHÉ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470001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Sénégal · Mali · Sahel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5887" y="4663440"/>
            <a:ext cx="2834640" cy="502920"/>
          </a:xfrm>
          <a:prstGeom prst="roundRect">
            <a:avLst>
              <a:gd name="adj" fmla="val 27000"/>
            </a:avLst>
          </a:prstGeom>
          <a:solidFill>
            <a:srgbClr val="0D6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85615" y="470001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9FE1CB"/>
                </a:solidFill>
                <a:latin typeface="Segoe UI"/>
              </a:rPr>
              <a:t>MODÈLE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470001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Freemium + SaaS + B2B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3407" y="4663440"/>
            <a:ext cx="2834640" cy="502920"/>
          </a:xfrm>
          <a:prstGeom prst="roundRect">
            <a:avLst>
              <a:gd name="adj" fmla="val 27000"/>
            </a:avLst>
          </a:prstGeom>
          <a:solidFill>
            <a:srgbClr val="0D6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5" y="470001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9FE1CB"/>
                </a:solidFill>
                <a:latin typeface="Segoe UI"/>
              </a:rPr>
              <a:t>STATUT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7" y="470001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Prêt pour la 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FE1CB"/>
                </a:solidFill>
                <a:latin typeface="Segoe UI"/>
              </a:rPr>
              <a:t>01 / 08</a:t>
            </a:r>
          </a:p>
        </p:txBody>
      </p:sp>
    </p:spTree>
    <p:bgPr>
      <a:gradFill>
        <a:gsLst>
          <a:gs pos="0">
            <a:srgbClr val="04342C"/>
          </a:gs>
          <a:gs pos="60000">
            <a:srgbClr val="085041"/>
          </a:gs>
          <a:gs pos="100000">
            <a:srgbClr val="1D9E75"/>
          </a:gs>
        </a:gsLst>
        <a:lin ang="5400000" scaled="0"/>
      </a:gradFill>
    </p:bgPr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85041"/>
                </a:solidFill>
                <a:latin typeface="Segoe UI"/>
              </a:rPr>
              <a:t>Synthèse Opérationnelle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1">
                <a:solidFill>
                  <a:srgbClr val="5C5C57"/>
                </a:solidFill>
                <a:latin typeface="Segoe UI"/>
              </a:rPr>
              <a:t>Une plateforme agritech bimode et adaptative pour l'écosystème agricole sahélien.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645920" cy="4114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520440" cy="1920240"/>
          </a:xfrm>
          <a:prstGeom prst="roundRect">
            <a:avLst>
              <a:gd name="adj" fmla="val 10000"/>
            </a:avLst>
          </a:prstGeom>
          <a:solidFill>
            <a:srgbClr val="085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9FE1CB"/>
                </a:solidFill>
                <a:latin typeface="Segoe UI"/>
              </a:rPr>
              <a:t>🌍  Marchés Cibles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FE1CB"/>
                </a:solidFill>
                <a:latin typeface="Segoe UI"/>
              </a:rPr>
              <a:t>Sénégal, Mali &amp;
Sahel Ouest-Africain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508760"/>
            <a:ext cx="3520440" cy="1920240"/>
          </a:xfrm>
          <a:prstGeom prst="roundRect">
            <a:avLst>
              <a:gd name="adj" fmla="val 10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62763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👥  Double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1945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Segoe UI"/>
              </a:rPr>
              <a:t>Baay Simple (ouvriers)
Baay Pro (gestionnaires)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75904" y="1508760"/>
            <a:ext cx="3520440" cy="1920240"/>
          </a:xfrm>
          <a:prstGeom prst="roundRect">
            <a:avLst>
              <a:gd name="adj" fmla="val 10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162763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💳  Modèle de Revenu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21945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Segoe UI"/>
              </a:rPr>
              <a:t>Gratuit · 5 000 FCFA/mois
500 FCFA/producteur B2B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534924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0292" cy="27432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11219"/>
            <a:ext cx="4956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85041"/>
                </a:solidFill>
                <a:latin typeface="Segoe UI"/>
              </a:rPr>
              <a:t>Où nous en sommes aujourd'hui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240987"/>
            <a:ext cx="4956048" cy="20061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1D9E75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Statut plateforme : 43 migrations, 93/93 tests passés — déclarée prête pour la production.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D9E75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Moteur principal : Django 5 + WebSockets + Prédiction de rendement Scikit-Learn en direct.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D9E75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Système de design : Glassmorphisme émeraude, conforme WCAG AA, modes sombre &amp; clair.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1D9E75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Compatible PWA : Installable sur mobile, fonctionne hors ligne via les service workers.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57600"/>
            <a:ext cx="534924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50292" cy="2743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811219"/>
            <a:ext cx="4956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85041"/>
                </a:solidFill>
                <a:latin typeface="Segoe UI"/>
              </a:rPr>
              <a:t>L'opportunité stratégique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240987"/>
            <a:ext cx="4956048" cy="20061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EF9F27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Le problème : Un ensemble de fonctionnalités complexes risque d'aliéner les ouvriers agricoles peu alphabétisés.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EF9F27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La solution : Interface utilisateur adaptative selon le rôle, affichant automatiquement le mode Simple ou Pro.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EF9F27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Stratégie GTM : Pilote → Sensibilisation physique sur les marchés (Loumas) → Expansion B2B ONG &amp; coopératives.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EF9F27"/>
                </a:solidFill>
                <a:latin typeface="Segoe UI"/>
              </a:rPr>
              <a:t>▸  </a:t>
            </a:r>
            <a:r>
              <a:rPr sz="1350">
                <a:solidFill>
                  <a:srgbClr val="2C2C2A"/>
                </a:solidFill>
                <a:latin typeface="Segoe UI"/>
              </a:rPr>
              <a:t>Monétisation : L'offre gratuite finance la croissance ; le SaaS Pro et le B2B coopératif génèrent les revenus.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5C57"/>
                </a:solidFill>
                <a:latin typeface="Segoe UI"/>
              </a:rPr>
              <a:t>02 / 08</a:t>
            </a:r>
          </a:p>
        </p:txBody>
      </p:sp>
    </p:spTree>
    <p:bgPr>
      <a:gradFill>
        <a:gsLst>
          <a:gs pos="0">
            <a:srgbClr val="E1F5EE"/>
          </a:gs>
          <a:gs pos="100000">
            <a:srgbClr val="FFFFFF"/>
          </a:gs>
        </a:gsLst>
        <a:lin ang="5400000" scaled="0"/>
      </a:gradFill>
    </p:bgPr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4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gradFill>
            <a:gsLst>
              <a:gs pos="0">
                <a:srgbClr val="04342C"/>
              </a:gs>
              <a:gs pos="100000">
                <a:srgbClr val="08504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0" y="0"/>
            <a:ext cx="6339535" cy="6858000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0" y="0"/>
            <a:ext cx="73152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68112" y="3145536"/>
            <a:ext cx="566928" cy="566928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68112" y="3200400"/>
            <a:ext cx="5669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1148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FE1CB"/>
                </a:solidFill>
                <a:latin typeface="Segoe UI"/>
              </a:rPr>
              <a:t>LA FRACTURE DU NUMÉRIQUE ET DE L'ALPHABÉTISATION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868680"/>
            <a:ext cx="1463040" cy="41148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430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Ouvriers Agricoles (Ouvriers)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190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9FE1CB"/>
                </a:solidFill>
                <a:latin typeface="Segoe UI"/>
              </a:rPr>
              <a:t>La majorité sous-servie — qualifiée sur le terrain, faible aisance numérique.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2860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0D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EF9F27"/>
                </a:solidFill>
                <a:latin typeface="Segoe UI"/>
              </a:rPr>
              <a:t>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59152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9F27"/>
                </a:solidFill>
                <a:latin typeface="Segoe UI"/>
              </a:rPr>
              <a:t>Culture Orale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7004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La plupart parlent Wolof, Bambara ou Pulaar natively — la lecture du français est difficile.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310128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0D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0156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EF9F27"/>
                </a:solidFill>
                <a:latin typeface="Segoe UI"/>
              </a:rPr>
              <a:t>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80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9F27"/>
                </a:solidFill>
                <a:latin typeface="Segoe UI"/>
              </a:rPr>
              <a:t>Environnements Difficiles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9417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Travail en extérieur sous le soleil sur des appareils Android à petit écran d'entrée de gamme.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334256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0D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2569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EF9F27"/>
                </a:solidFill>
                <a:latin typeface="Segoe UI"/>
              </a:rPr>
              <a:t>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07408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9F27"/>
                </a:solidFill>
                <a:latin typeface="Segoe UI"/>
              </a:rPr>
              <a:t>Faible Connectivité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71830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Parcelles agricoles isolées avec un signal de données mobiles faible ou nul.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358384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0D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4982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EF9F27"/>
                </a:solidFill>
                <a:latin typeface="Segoe UI"/>
              </a:rPr>
              <a:t>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431536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F9F27"/>
                </a:solidFill>
                <a:latin typeface="Segoe UI"/>
              </a:rPr>
              <a:t>Surcharge de Fonctionnalités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74243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Submergés par des tableaux de bord financiers denses et une navigation complexe.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11480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85041"/>
                </a:solidFill>
                <a:latin typeface="Segoe UI"/>
              </a:rPr>
              <a:t>Propriétaires &amp; Gérants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98755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5C5C57"/>
                </a:solidFill>
                <a:latin typeface="Segoe UI"/>
              </a:rPr>
              <a:t>Professionnels du numérique exigeant un contrôle approfondi des données.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1664208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1664208"/>
            <a:ext cx="50292" cy="9144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75564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D9E75"/>
                </a:solidFill>
                <a:latin typeface="Segoe UI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173736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85041"/>
                </a:solidFill>
                <a:latin typeface="Segoe UI"/>
              </a:rPr>
              <a:t>Précision Financière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04825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A"/>
                </a:solidFill>
                <a:latin typeface="Segoe UI"/>
              </a:rPr>
              <a:t>Besoin de suivis de dépenses en FCFA, plafonds budgétaires et calculs de ROI en direct.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2688336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2688336"/>
            <a:ext cx="50292" cy="9144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77977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D9E75"/>
                </a:solidFill>
                <a:latin typeface="Segoe UI"/>
              </a:rPr>
              <a:t>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2761488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85041"/>
                </a:solidFill>
                <a:latin typeface="Segoe UI"/>
              </a:rPr>
              <a:t>Analyses Prédictives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3072384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A"/>
                </a:solidFill>
                <a:latin typeface="Segoe UI"/>
              </a:rPr>
              <a:t>S'appuient sur Scikit-learn pour prévoir les rendements agricoles saisonniers.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0760" y="3712464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80760" y="3712464"/>
            <a:ext cx="50292" cy="9144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380390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D9E75"/>
                </a:solidFill>
                <a:latin typeface="Segoe UI"/>
              </a:rPr>
              <a:t>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78561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85041"/>
                </a:solidFill>
                <a:latin typeface="Segoe UI"/>
              </a:rPr>
              <a:t>Gestion d'Équipe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09651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A"/>
                </a:solidFill>
                <a:latin typeface="Segoe UI"/>
              </a:rPr>
              <a:t>Require instant WebSocket messaging, task delegation &amp; progress tracking.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60" y="4736592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80760" y="4736592"/>
            <a:ext cx="50292" cy="9144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482803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D9E75"/>
                </a:solidFill>
                <a:latin typeface="Segoe UI"/>
              </a:rPr>
              <a:t>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480974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85041"/>
                </a:solidFill>
                <a:latin typeface="Segoe UI"/>
              </a:rPr>
              <a:t>Aperçu Spatial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51206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A"/>
                </a:solidFill>
                <a:latin typeface="Segoe UI"/>
              </a:rPr>
              <a:t>Cartes Leaflet multi-fermes, agrégation régionale des performances.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FE1CB"/>
                </a:solidFill>
                <a:latin typeface="Segoe UI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La Solution : Double Interface Adaptative selon le Rôle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1">
                <a:solidFill>
                  <a:srgbClr val="9FE1CB"/>
                </a:solidFill>
                <a:latin typeface="Segoe UI"/>
              </a:rPr>
              <a:t>Une seule plateforme. Deux expériences intelligemment adaptées et fournies automatiquement selon le rôle.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645920" cy="41148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03520" y="1874519"/>
            <a:ext cx="1581912" cy="475488"/>
          </a:xfrm>
          <a:prstGeom prst="roundRect">
            <a:avLst>
              <a:gd name="adj" fmla="val 26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21808" y="19202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RÔLE DÉTECTÉ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4663440" cy="5029200"/>
          </a:xfrm>
          <a:prstGeom prst="roundRect">
            <a:avLst/>
          </a:prstGeom>
          <a:gradFill>
            <a:gsLst>
              <a:gs pos="0">
                <a:srgbClr val="087058"/>
              </a:gs>
              <a:gs pos="100000">
                <a:srgbClr val="08504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9FE1CB"/>
                </a:solidFill>
                <a:latin typeface="Segoe UI"/>
              </a:rPr>
              <a:t>🌿  BAAY SIMPLE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L'interface Allégée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FE1CB"/>
                </a:solidFill>
                <a:latin typeface="Segoe UI"/>
              </a:rPr>
              <a:t>Activée automatiquement pour les ouvriers et les producteurs peu alphabétisés.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F9F27"/>
                </a:solidFill>
                <a:latin typeface="Segoe UI"/>
              </a:rPr>
              <a:t>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0098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Messagerie Vocale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478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FE1CB"/>
                </a:solidFill>
                <a:latin typeface="Segoe UI"/>
              </a:rPr>
              <a:t>Enregistrez des instructions en Wolof/Bambara. Aucune saisie requise.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599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F9F27"/>
                </a:solidFill>
                <a:latin typeface="Segoe UI"/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06908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Tâches par Icônes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159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FE1CB"/>
                </a:solidFill>
                <a:latin typeface="Segoe UI"/>
              </a:rPr>
              <a:t>Des symboles agricoles remplacent le texte : gouttes, feuilles, outils.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280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F9F27"/>
                </a:solidFill>
                <a:latin typeface="Segoe UI"/>
              </a:rPr>
              <a:t>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8371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PWA Hors-Ligne D'abord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08406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FE1CB"/>
                </a:solidFill>
                <a:latin typeface="Segoe UI"/>
              </a:rPr>
              <a:t>Fonctionne sans réseau. Synchronisation dès la reconnexion 2G.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961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F9F27"/>
                </a:solidFill>
                <a:latin typeface="Segoe UI"/>
              </a:rPr>
              <a:t>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60527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Cibles Tactiles Géantes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852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FE1CB"/>
                </a:solidFill>
                <a:latin typeface="Segoe UI"/>
              </a:rPr>
              <a:t>Boutons min 48×48px, grands compteurs +/–, contraste élevé.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68312" y="1463040"/>
            <a:ext cx="4663440" cy="5029200"/>
          </a:xfrm>
          <a:prstGeom prst="roundRect">
            <a:avLst/>
          </a:prstGeom>
          <a:gradFill>
            <a:gsLst>
              <a:gs pos="0">
                <a:srgbClr val="EF9F27"/>
              </a:gs>
              <a:gs pos="100000">
                <a:srgbClr val="D98A1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169164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⚡  BAAY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210312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Le Tableau de Bord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278892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FFFDD"/>
                </a:solidFill>
                <a:latin typeface="Segoe UI"/>
              </a:rPr>
              <a:t>Activée automatiquement pour les propriétaires, gérants et agronomes.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32918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330098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Cockpit Financier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35478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DD"/>
                </a:solidFill>
                <a:latin typeface="Segoe UI"/>
              </a:rPr>
              <a:t>Budget, dépenses, analyses de ROI (FCFA) &amp; alertes de dépassement.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40599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406908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Prévisions de Rendement 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43159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DD"/>
                </a:solidFill>
                <a:latin typeface="Segoe UI"/>
              </a:rPr>
              <a:t>Prédictions Scikit-learn avec indices de confiance.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48280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48371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Messagerie WebSocket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508406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DD"/>
                </a:solidFill>
                <a:latin typeface="Segoe UI"/>
              </a:rPr>
              <a:t>Discussion en direct, réactions emoji, accusés de lecture.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55961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560527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Tableau de Bord Spatial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5552" y="5852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DD"/>
                </a:solidFill>
                <a:latin typeface="Segoe UI"/>
              </a:rPr>
              <a:t>Cartes Leaflet multi-fermes, vues agrégées coopératives.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49240" y="3657600"/>
            <a:ext cx="1490472" cy="50292"/>
          </a:xfrm>
          <a:prstGeom prst="rect">
            <a:avLst/>
          </a:prstGeom>
          <a:solidFill>
            <a:srgbClr val="9FE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864608" y="3579876"/>
            <a:ext cx="201168" cy="201168"/>
          </a:xfrm>
          <a:prstGeom prst="ellipse">
            <a:avLst/>
          </a:prstGeom>
          <a:solidFill>
            <a:srgbClr val="9FE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123176" y="3579876"/>
            <a:ext cx="201168" cy="201168"/>
          </a:xfrm>
          <a:prstGeom prst="ellipse">
            <a:avLst/>
          </a:prstGeom>
          <a:solidFill>
            <a:srgbClr val="9FE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FE1CB"/>
                </a:solidFill>
                <a:latin typeface="Segoe UI"/>
              </a:rPr>
              <a:t>04 / 08</a:t>
            </a:r>
          </a:p>
        </p:txBody>
      </p:sp>
    </p:spTree>
    <p:bgPr>
      <a:gradFill>
        <a:gsLst>
          <a:gs pos="0">
            <a:srgbClr val="04342C"/>
          </a:gs>
          <a:gs pos="45000">
            <a:srgbClr val="085041"/>
          </a:gs>
          <a:gs pos="100000">
            <a:srgbClr val="065544"/>
          </a:gs>
        </a:gsLst>
        <a:lin ang="5400000" scaled="0"/>
      </a:gradFill>
    </p:bgPr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85041"/>
                </a:solidFill>
                <a:latin typeface="Segoe UI"/>
              </a:rPr>
              <a:t>Baay Simple : Conçu pour le Terrain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1">
                <a:solidFill>
                  <a:srgbClr val="5C5C57"/>
                </a:solidFill>
                <a:latin typeface="Segoe UI"/>
              </a:rPr>
              <a:t>UX sans courbe d'apprentissage pour les contextes extérieurs, peu alphabétisés et à faible bande passante.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645920" cy="4114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72768"/>
            <a:ext cx="3639312" cy="4937760"/>
          </a:xfrm>
          <a:prstGeom prst="roundRect">
            <a:avLst/>
          </a:prstGeom>
          <a:gradFill>
            <a:gsLst>
              <a:gs pos="0">
                <a:srgbClr val="1D9E75"/>
              </a:gs>
              <a:gs pos="100000">
                <a:srgbClr val="04342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764792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1D9E75"/>
                </a:solidFill>
                <a:latin typeface="Segoe UI"/>
              </a:rPr>
              <a:t>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88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Priorité au Vocal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200400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310128"/>
            <a:ext cx="32004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Appuyer et maintenir le bouton microphone pour les messages audio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Fonctionne en Wolof, Bambara et Pulaar sans saisie de texte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Un haut-parleur d'aide vocale explique chaque étiquette à haute voix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Messages audio sauvegardés sur Cloudinary — lisibles hors ligne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Permet aux ouvriers analphabètes de participer pleinement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72768"/>
            <a:ext cx="3639312" cy="4937760"/>
          </a:xfrm>
          <a:prstGeom prst="roundRect">
            <a:avLst/>
          </a:prstGeom>
          <a:gradFill>
            <a:gsLst>
              <a:gs pos="0">
                <a:srgbClr val="EF9F27"/>
              </a:gs>
              <a:gs pos="100000">
                <a:srgbClr val="04342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764792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202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EF9F27"/>
                </a:solidFill>
                <a:latin typeface="Segoe UI"/>
              </a:rPr>
              <a:t>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788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Langage Visuel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4568" y="3200400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3310128"/>
            <a:ext cx="32004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Icônes de culture remplaçant le français : 💧 arroser, 🌿 fertiliser, 🔪 récolter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Statuts avec code couleur : Vert = OK, Jaune = Attention, Rouge = Alerte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Grands compteurs numériques +/– pour éviter la saisie au clavier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Cibles tactiles minimales de 48×48px pour les mains gantées ou mouillées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Symboles cohérents pour toutes les catégories de tâches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72768"/>
            <a:ext cx="3639312" cy="4937760"/>
          </a:xfrm>
          <a:prstGeom prst="roundRect">
            <a:avLst/>
          </a:prstGeom>
          <a:gradFill>
            <a:gsLst>
              <a:gs pos="0">
                <a:srgbClr val="085041"/>
              </a:gs>
              <a:gs pos="100000">
                <a:srgbClr val="04342C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0" y="1764792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9202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085041"/>
                </a:solidFill>
                <a:latin typeface="Segoe UI"/>
              </a:rPr>
              <a:t>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788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PWA Hors Ligne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30768" y="3200400"/>
            <a:ext cx="1097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3310128"/>
            <a:ext cx="32004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Le Service Worker (sw.js) met en cache toute l'interface localement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Les ouvriers valident les tâches dans les champs isolés sans signal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File de synchronisation intelligente téléchargeant dès la reconnexion 2G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Installable comme une application native sur l'écran d'accueil Android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9FE1CB"/>
                </a:solidFill>
                <a:latin typeface="Segoe UI"/>
              </a:rPr>
              <a:t>–  </a:t>
            </a:r>
            <a:r>
              <a:rPr sz="1250">
                <a:solidFill>
                  <a:srgbClr val="FFFFFF"/>
                </a:solidFill>
                <a:latin typeface="Segoe UI"/>
              </a:rPr>
              <a:t>Résolution automatique des conflits lors de la synchro multi-ouvriers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5C57"/>
                </a:solidFill>
                <a:latin typeface="Segoe UI"/>
              </a:rPr>
              <a:t>05 / 08</a:t>
            </a:r>
          </a:p>
        </p:txBody>
      </p:sp>
    </p:spTree>
    <p:bgPr>
      <a:gradFill>
        <a:gsLst>
          <a:gs pos="0">
            <a:srgbClr val="FFFFFF"/>
          </a:gs>
          <a:gs pos="100000">
            <a:srgbClr val="E1F5EE"/>
          </a:gs>
        </a:gsLst>
        <a:lin ang="5400000" scaled="0"/>
      </a:gradFill>
    </p:bgPr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Tarification Stratégique : Modèle à 3 Niveaux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1">
                <a:solidFill>
                  <a:srgbClr val="9FE1CB"/>
                </a:solidFill>
                <a:latin typeface="Segoe UI"/>
              </a:rPr>
              <a:t>Niveaux adaptés au Sahel basés sur le Mobile Money (Wave / Orange Money) et les flux de trésorerie saisonniers.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645920" cy="41148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3657600" cy="4754880"/>
          </a:xfrm>
          <a:prstGeom prst="roundRect">
            <a:avLst>
              <a:gd name="adj" fmla="val 12000"/>
            </a:avLst>
          </a:prstGeom>
          <a:solidFill>
            <a:srgbClr val="0D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3657600" cy="8229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81528" y="1572768"/>
            <a:ext cx="822960" cy="329184"/>
          </a:xfrm>
          <a:prstGeom prst="roundRect">
            <a:avLst>
              <a:gd name="adj" fmla="val 18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81528" y="15910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4342C"/>
                </a:solidFill>
                <a:latin typeface="Segoe UI"/>
              </a:rPr>
              <a:t>GRATUIT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627632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Baay Basique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05740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1D9E75"/>
                </a:solidFill>
                <a:latin typeface="Segoe UI"/>
              </a:rPr>
              <a:t>Petits Exploitants Individuels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50592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0 FCFA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999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E1CB"/>
                </a:solidFill>
                <a:latin typeface="Segoe UI"/>
              </a:rPr>
              <a:t>Gratuit pour toujours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337560"/>
            <a:ext cx="3200400" cy="3657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3438144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D9E7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1 Profil de ferme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D9E7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Jusqu'à 3 membres de ferme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D9E7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Interface visuelle Baay Simple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D9E7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Alertes météo locales de base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D9E7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Accès en lecture à la marketplace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5321808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3949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D9E75"/>
                </a:solidFill>
                <a:latin typeface="Segoe UI"/>
              </a:rPr>
              <a:t>Entonnoir GTM. Stimule l'adoption
et crée le réseau de données agricoles.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463040"/>
            <a:ext cx="3657600" cy="4754880"/>
          </a:xfrm>
          <a:prstGeom prst="roundRect">
            <a:avLst>
              <a:gd name="adj" fmla="val 12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463040"/>
            <a:ext cx="3657600" cy="82296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86016" y="1572768"/>
            <a:ext cx="822960" cy="329184"/>
          </a:xfrm>
          <a:prstGeom prst="roundRect">
            <a:avLst>
              <a:gd name="adj" fmla="val 18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6016" y="15910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1627632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Baay 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05740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EF9F27"/>
                </a:solidFill>
                <a:latin typeface="Segoe UI"/>
              </a:rPr>
              <a:t>Exploitants Commerciaux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2450592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5 000 FCFA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2999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E1CB"/>
                </a:solidFill>
                <a:latin typeface="Segoe UI"/>
              </a:rPr>
              <a:t>/ mois par ferme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17136" y="3337560"/>
            <a:ext cx="3200400" cy="36576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3438144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EF9F27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Jusqu'à 3 fermes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EF9F27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Membres &amp; rôles illimités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EF9F27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Cockpit financier complet (FCFA)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EF9F27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IA de prédiction Scikit-learn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EF9F27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Discussion WebSocket en direct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17136" y="5321808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53949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F9F27"/>
                </a:solidFill>
                <a:latin typeface="Segoe UI"/>
              </a:rPr>
              <a:t>Revenus SaaS récurrents.
Annuel : 45 000 FCFA (1 récolte).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0455" y="1463040"/>
            <a:ext cx="3657600" cy="4754880"/>
          </a:xfrm>
          <a:prstGeom prst="roundRect">
            <a:avLst>
              <a:gd name="adj" fmla="val 12000"/>
            </a:avLst>
          </a:prstGeom>
          <a:solidFill>
            <a:srgbClr val="0D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0455" y="1463040"/>
            <a:ext cx="3657600" cy="82296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890503" y="1572768"/>
            <a:ext cx="822960" cy="329184"/>
          </a:xfrm>
          <a:prstGeom prst="roundRect">
            <a:avLst>
              <a:gd name="adj" fmla="val 18000"/>
            </a:avLst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90503" y="15910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4342C"/>
                </a:solidFill>
                <a:latin typeface="Segoe UI"/>
              </a:rPr>
              <a:t>B2B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1623" y="1627632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Baay Coopérative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1623" y="205740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DCAA5"/>
                </a:solidFill>
                <a:latin typeface="Segoe UI"/>
              </a:rPr>
              <a:t>Coopératives · ONG · États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3" y="2450592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500 FCFA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1623" y="2999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E1CB"/>
                </a:solidFill>
                <a:latin typeface="Segoe UI"/>
              </a:rPr>
              <a:t>/ producteur / mois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21623" y="3337560"/>
            <a:ext cx="3200400" cy="36576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21623" y="3438144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5DCAA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Panneau d'administration dédié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5DCAA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Modélisation globale des rendements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5DCAA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Diffusion groupée de SMS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5DCAA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Packs de langues vocales sur mesure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5DCAA5"/>
                </a:solidFill>
                <a:latin typeface="Segoe UI"/>
              </a:rPr>
              <a:t>✓  </a:t>
            </a:r>
            <a:r>
              <a:rPr sz="1250">
                <a:solidFill>
                  <a:srgbClr val="FFFFFF"/>
                </a:solidFill>
                <a:latin typeface="Segoe UI"/>
              </a:rPr>
              <a:t>Accompagnement prioritaire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21623" y="5321808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13063" y="53949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DCAA5"/>
                </a:solidFill>
                <a:latin typeface="Segoe UI"/>
              </a:rPr>
              <a:t>Facturation B2B / subventions.
Financé par les ONG et organismes.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FE1CB"/>
                </a:solidFill>
                <a:latin typeface="Segoe UI"/>
              </a:rPr>
              <a:t>06 / 08</a:t>
            </a:r>
          </a:p>
        </p:txBody>
      </p:sp>
    </p:spTree>
    <p:bgPr>
      <a:gradFill>
        <a:gsLst>
          <a:gs pos="0">
            <a:srgbClr val="04342C"/>
          </a:gs>
          <a:gs pos="100000">
            <a:srgbClr val="085041"/>
          </a:gs>
        </a:gsLst>
        <a:lin ang="5400000" scaled="0"/>
      </a:gradFill>
    </p:bgPr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85041"/>
                </a:solidFill>
                <a:latin typeface="Segoe UI"/>
              </a:rPr>
              <a:t>Go-To-Market : Plan Sahélien en 3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1">
                <a:solidFill>
                  <a:srgbClr val="5C5C57"/>
                </a:solidFill>
                <a:latin typeface="Segoe UI"/>
              </a:rPr>
              <a:t>Stratégie de confiance sur le terrain. L'agriculture rurale exige une présence physique, pas seulement des pubs.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16152"/>
            <a:ext cx="1645920" cy="4114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779776"/>
            <a:ext cx="11094415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66544" y="2615184"/>
            <a:ext cx="384048" cy="384048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66544" y="2752344"/>
            <a:ext cx="3840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410712" cy="1280160"/>
          </a:xfrm>
          <a:prstGeom prst="roundRect">
            <a:avLst>
              <a:gd name="adj" fmla="val 8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Le Pilote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DD"/>
                </a:solidFill>
                <a:latin typeface="Segoe UI"/>
              </a:rPr>
              <a:t>Semaines 1 –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90672"/>
            <a:ext cx="3410712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90672"/>
            <a:ext cx="50292" cy="33832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244291"/>
            <a:ext cx="3017520" cy="30760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1D9E75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Sélectionner 5 gérants de fermes à l'aise avec la tech dans les Niayes / bassin du fleuve.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D9E75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Déployer Baay Pro gratuitement — observer, mesurer, ajuster quotidiennement.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D9E75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Co-concevoir l'interface Simple : s'asseoir avec les ouvriers pour tester icônes et audio.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1D9E75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Collecter les données de référence sur les rendements et l'avancement des tâches.</a:t>
            </a:r>
          </a:p>
        </p:txBody>
      </p:sp>
      <p:sp>
        <p:nvSpPr>
          <p:cNvPr id="14" name="Oval 13"/>
          <p:cNvSpPr/>
          <p:nvPr/>
        </p:nvSpPr>
        <p:spPr>
          <a:xfrm>
            <a:off x="5769864" y="2615184"/>
            <a:ext cx="384048" cy="384048"/>
          </a:xfrm>
          <a:prstGeom prst="ellipse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9864" y="2752344"/>
            <a:ext cx="3840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417320"/>
            <a:ext cx="3410712" cy="1280160"/>
          </a:xfrm>
          <a:prstGeom prst="roundRect">
            <a:avLst>
              <a:gd name="adj" fmla="val 8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536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Sensibilisation Marchés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99339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DD"/>
                </a:solidFill>
                <a:latin typeface="Segoe UI"/>
              </a:rPr>
              <a:t>Semaines 9 – 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090672"/>
            <a:ext cx="3410712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3090672"/>
            <a:ext cx="50292" cy="338328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3244291"/>
            <a:ext cx="3017520" cy="30760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EF9F27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Installer des stands mobiles lors des jours de marchés hebdomadaires (Loumas).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EF9F27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Démo en direct : inscrire une ferme, recevoir une alerte météo en 60 secondes.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EF9F27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Guider les agriculteurs pour ajouter la PWA sur l'écran d'accueil Android.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EF9F27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S'allier avec les fédérations de producteurs d'oignons, de tomates et de riz.</a:t>
            </a:r>
          </a:p>
        </p:txBody>
      </p:sp>
      <p:sp>
        <p:nvSpPr>
          <p:cNvPr id="22" name="Oval 21"/>
          <p:cNvSpPr/>
          <p:nvPr/>
        </p:nvSpPr>
        <p:spPr>
          <a:xfrm>
            <a:off x="9473183" y="2615184"/>
            <a:ext cx="384048" cy="384048"/>
          </a:xfrm>
          <a:prstGeom prst="ellipse">
            <a:avLst/>
          </a:prstGeom>
          <a:solidFill>
            <a:srgbClr val="085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73183" y="2752344"/>
            <a:ext cx="3840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417320"/>
            <a:ext cx="3410712" cy="1280160"/>
          </a:xfrm>
          <a:prstGeom prst="roundRect">
            <a:avLst>
              <a:gd name="adj" fmla="val 8000"/>
            </a:avLst>
          </a:prstGeom>
          <a:solidFill>
            <a:srgbClr val="085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59" y="1536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Expansion B2B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199339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DD"/>
                </a:solidFill>
                <a:latin typeface="Segoe UI"/>
              </a:rPr>
              <a:t>Mois 6 et plus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3090672"/>
            <a:ext cx="3410712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79" y="3090672"/>
            <a:ext cx="50292" cy="3383280"/>
          </a:xfrm>
          <a:prstGeom prst="rect">
            <a:avLst/>
          </a:prstGeom>
          <a:solidFill>
            <a:srgbClr val="085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1" y="3244291"/>
            <a:ext cx="3017520" cy="30760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085041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Présenter les tableaux de bord coopératifs agrégés à la FAO, l'USAID, la GIZ.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085041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Proposer des espaces marketplace aux sponsors d'intrants (semences/engrais).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085041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Lancer des abonnements saisonniers de diffusion de SMS d'alerte récolte.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085041"/>
                </a:solidFill>
                <a:latin typeface="Segoe UI"/>
              </a:rPr>
              <a:t>▸  </a:t>
            </a:r>
            <a:r>
              <a:rPr sz="1250">
                <a:solidFill>
                  <a:srgbClr val="2C2C2A"/>
                </a:solidFill>
                <a:latin typeface="Segoe UI"/>
              </a:rPr>
              <a:t>S'étendre vers un second marché (Mali, Burkina Faso, Guinée-Bissau).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5C57"/>
                </a:solidFill>
                <a:latin typeface="Segoe UI"/>
              </a:rPr>
              <a:t>07 / 08</a:t>
            </a:r>
          </a:p>
        </p:txBody>
      </p:sp>
    </p:spTree>
    <p:bgPr>
      <a:gradFill>
        <a:gsLst>
          <a:gs pos="0">
            <a:srgbClr val="E1F5EE"/>
          </a:gs>
          <a:gs pos="100000">
            <a:srgbClr val="FFFFFF"/>
          </a:gs>
        </a:gsLst>
        <a:lin ang="5400000" scaled="0"/>
      </a:gradFill>
    </p:bgPr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457200"/>
            <a:ext cx="2926080" cy="2926080"/>
          </a:xfrm>
          <a:prstGeom prst="ellipse">
            <a:avLst/>
          </a:prstGeom>
          <a:solidFill>
            <a:srgbClr val="06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91440"/>
            <a:ext cx="1828800" cy="1828800"/>
          </a:xfrm>
          <a:prstGeom prst="ellipse">
            <a:avLst/>
          </a:prstGeom>
          <a:solidFill>
            <a:srgbClr val="08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548640"/>
            <a:ext cx="914400" cy="91440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68580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9FE1CB"/>
                </a:solidFill>
                <a:latin typeface="Segoe UI"/>
              </a:rPr>
              <a:t>ÉTAPES SUIVANTES IMMÉDIATES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868680"/>
            <a:ext cx="1828800" cy="4572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Jalons Techniques &amp; Commerciaux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65960"/>
            <a:ext cx="5212080" cy="1920240"/>
          </a:xfrm>
          <a:prstGeom prst="roundRect">
            <a:avLst>
              <a:gd name="adj" fmla="val 10000"/>
            </a:avLst>
          </a:prstGeom>
          <a:solidFill>
            <a:srgbClr val="0A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5212080" cy="6400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130552"/>
            <a:ext cx="1234440" cy="301752"/>
          </a:xfrm>
          <a:prstGeom prst="roundRect">
            <a:avLst>
              <a:gd name="adj" fmla="val 16000"/>
            </a:avLst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48840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4342C"/>
                </a:solidFill>
                <a:latin typeface="Segoe UI"/>
              </a:rPr>
              <a:t>Jalon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1488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Configurer le Routage par Rôle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32888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Mettre à jour baay/permissions.py + views.py pour que les rôles Ouvriers soient automatiquement redirigés vers /dashboard/simple/ avec le thème visuel allégé.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965960"/>
            <a:ext cx="5212080" cy="1920240"/>
          </a:xfrm>
          <a:prstGeom prst="roundRect">
            <a:avLst>
              <a:gd name="adj" fmla="val 10000"/>
            </a:avLst>
          </a:prstGeom>
          <a:solidFill>
            <a:srgbClr val="0A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965960"/>
            <a:ext cx="5212080" cy="64008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2130552"/>
            <a:ext cx="1234440" cy="301752"/>
          </a:xfrm>
          <a:prstGeom prst="roundRect">
            <a:avLst>
              <a:gd name="adj" fmla="val 16000"/>
            </a:avLst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148840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4342C"/>
                </a:solidFill>
                <a:latin typeface="Segoe UI"/>
              </a:rPr>
              <a:t>Jalon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1488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Développer dashboard_simple.html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532888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Modèle mobile-first et hors-ligne : grille de tâches visuelle par icônes, compteurs +/- géants, bouton micro pour discussion dialectale et cartes colorées.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69079"/>
            <a:ext cx="5212080" cy="1920240"/>
          </a:xfrm>
          <a:prstGeom prst="roundRect">
            <a:avLst>
              <a:gd name="adj" fmla="val 10000"/>
            </a:avLst>
          </a:prstGeom>
          <a:solidFill>
            <a:srgbClr val="0A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79"/>
            <a:ext cx="5212080" cy="64008"/>
          </a:xfrm>
          <a:prstGeom prst="rect">
            <a:avLst/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233671"/>
            <a:ext cx="1234440" cy="301752"/>
          </a:xfrm>
          <a:prstGeom prst="roundRect">
            <a:avLst>
              <a:gd name="adj" fmla="val 16000"/>
            </a:avLst>
          </a:prstGeom>
          <a:solidFill>
            <a:srgbClr val="5DC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251959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4342C"/>
                </a:solidFill>
                <a:latin typeface="Segoe UI"/>
              </a:rPr>
              <a:t>Jalon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251959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Intégrer l'Audio dans la Messagerie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36007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Ajouter le micro interactif dans la messagerie WebSocket. Sauvegarder les audios sur Cloudinary. Lecture des dialectes Wolof/Bambara.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069079"/>
            <a:ext cx="5212080" cy="1920240"/>
          </a:xfrm>
          <a:prstGeom prst="roundRect">
            <a:avLst>
              <a:gd name="adj" fmla="val 10000"/>
            </a:avLst>
          </a:prstGeom>
          <a:solidFill>
            <a:srgbClr val="0A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4069079"/>
            <a:ext cx="521208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26480" y="4233671"/>
            <a:ext cx="1234440" cy="301752"/>
          </a:xfrm>
          <a:prstGeom prst="roundRect">
            <a:avLst>
              <a:gd name="adj" fmla="val 16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4251959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4342C"/>
                </a:solidFill>
                <a:latin typeface="Segoe UI"/>
              </a:rPr>
              <a:t>Jalon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4251959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Intégrer les Webhooks de Mobile Money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636007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FE1CB"/>
                </a:solidFill>
                <a:latin typeface="Segoe UI"/>
              </a:rPr>
              <a:t>Connecter les API IPN Wave &amp; Orange Money. Ajouter le niveau d'abonnement au modèle Ferme. Gater les vues Pro derrière la vérification du niveau de facturation.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2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318504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FE1CB"/>
                </a:solidFill>
                <a:latin typeface="Segoe UI"/>
              </a:rPr>
              <a:t>"Andd Baay"  —  signifie en Wolof  'Cultiver Ensemble'   |   Conçu pour le Terrain. Bâti pour l'Avenir.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3796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FE1CB"/>
                </a:solidFill>
                <a:latin typeface="Segoe UI"/>
              </a:rPr>
              <a:t>08 / 08</a:t>
            </a:r>
          </a:p>
        </p:txBody>
      </p:sp>
    </p:spTree>
    <p:bgPr>
      <a:gradFill>
        <a:gsLst>
          <a:gs pos="0">
            <a:srgbClr val="04342C"/>
          </a:gs>
          <a:gs pos="55000">
            <a:srgbClr val="085041"/>
          </a:gs>
          <a:gs pos="100000">
            <a:srgbClr val="07604E"/>
          </a:gs>
        </a:gsLst>
        <a:lin ang="5400000" scaled="0"/>
      </a:gradFill>
    </p:bgPr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