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-274320"/>
            <a:ext cx="3474720" cy="3474720"/>
          </a:xfrm>
          <a:prstGeom prst="roundRect">
            <a:avLst/>
          </a:prstGeom>
          <a:gradFill>
            <a:gsLst>
              <a:gs pos="0">
                <a:srgbClr val="1D9E75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7432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3200400" cy="3657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6492240"/>
            <a:ext cx="914400" cy="36576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005840"/>
            <a:ext cx="2377440" cy="384048"/>
          </a:xfrm>
          <a:prstGeom prst="roundRect">
            <a:avLst>
              <a:gd name="adj" fmla="val 21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WEST AFRICAN AGRITECH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 Black"/>
              </a:rPr>
              <a:t>ANDD BAAY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632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9FE1CB"/>
                </a:solidFill>
                <a:latin typeface="Segoe UI"/>
              </a:rPr>
              <a:t>L'agriculture de demain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39312"/>
            <a:ext cx="4114800" cy="50292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22191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F9F27"/>
                </a:solidFill>
                <a:latin typeface="Segoe UI"/>
              </a:rPr>
              <a:t>LAUNCHING, PRICING &amp; UX STRATEGY BLUEPRINT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Senegal · Mali · Sahel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Freemium + SaaS + B2B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7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5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Production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01 / 08</a:t>
            </a:r>
          </a:p>
        </p:txBody>
      </p:sp>
    </p:spTree>
    <p:bgPr>
      <a:gradFill>
        <a:gsLst>
          <a:gs pos="0">
            <a:srgbClr val="04342C"/>
          </a:gs>
          <a:gs pos="60000">
            <a:srgbClr val="085041"/>
          </a:gs>
          <a:gs pos="100000">
            <a:srgbClr val="1D9E75"/>
          </a:gs>
        </a:gsLst>
        <a:lin ang="5400000" scaled="0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A dual-mode, role-adaptive agritech platform for the Sahelian agricultural ecosystem.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FE1CB"/>
                </a:solidFill>
                <a:latin typeface="Segoe UI"/>
              </a:rPr>
              <a:t>🌍  Target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FE1CB"/>
                </a:solidFill>
                <a:latin typeface="Segoe UI"/>
              </a:rPr>
              <a:t>Senegal, Mali &amp;
West African Sahel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👥  Dual-Interface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Segoe UI"/>
              </a:rPr>
              <a:t>Baay Simple (workers)
Baay Pro (managers)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💳  Revenue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Segoe UI"/>
              </a:rPr>
              <a:t>Free · 5,000 FCFA/mo
500 FCFA/farmer B2B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492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0292" cy="2743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11219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85041"/>
                </a:solidFill>
                <a:latin typeface="Segoe UI"/>
              </a:rPr>
              <a:t>Where We Are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40987"/>
            <a:ext cx="4956048" cy="20061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Platform Status: 43 migrations, 74/86 tests pass — declared production-ready.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Core Engine: Django 5 + WebSockets + Scikit-Learn yield predictions live.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Design System: Emerald glassmorphism, WCAG AA compliant, dark &amp; light modes.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PWA Capable: Installable on mobile, works offline via service workers.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3492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0292" cy="2743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11219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85041"/>
                </a:solidFill>
                <a:latin typeface="Segoe UI"/>
              </a:rPr>
              <a:t>The Strategic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40987"/>
            <a:ext cx="4956048" cy="20061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The Problem: A sophisticated feature set risks alienating low-literacy field workers.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The Solution: Role-based adaptive UI that shows Simple or Pro mode automatically.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GTM Path: Pilot → Louma physical outreach → NGO &amp; cooperative B2B scaling.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Monetisation: Free tier funds growth; Pro SaaS &amp; Co-op B2B drive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02 / 08</a:t>
            </a:r>
          </a:p>
        </p:txBody>
      </p:sp>
    </p:spTree>
    <p:bgPr>
      <a:gradFill>
        <a:gsLst>
          <a:gs pos="0">
            <a:srgbClr val="E1F5EE"/>
          </a:gs>
          <a:gs pos="100000">
            <a:srgbClr val="FFFFFF"/>
          </a:gs>
        </a:gsLst>
        <a:lin ang="5400000" scaled="0"/>
      </a:gradFill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4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gradFill>
            <a:gsLst>
              <a:gs pos="0">
                <a:srgbClr val="04342C"/>
              </a:gs>
              <a:gs pos="100000">
                <a:srgbClr val="08504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0" y="0"/>
            <a:ext cx="7315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68112" y="3145536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3200400"/>
            <a:ext cx="566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14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FE1CB"/>
                </a:solidFill>
                <a:latin typeface="Segoe UI"/>
              </a:rPr>
              <a:t>THE TECH-LITERACY DIVIDE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868680"/>
            <a:ext cx="146304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Field Laborers (Ouvriers)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190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9FE1CB"/>
                </a:solidFill>
                <a:latin typeface="Segoe UI"/>
              </a:rPr>
              <a:t>The underserved majority — high skill, low digital fluency.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86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Oral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7004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Most speak Wolof, Bambara or Pulaar natively — reading French is difficult.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31012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Harsh Environments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9417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Outdoor work in sunlight on small-screen, budget Android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3425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256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0740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Low 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1830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Remote farm parcels with poor or zero mobile data signal.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35838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98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3153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Feature Overload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42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Overwhelmed by dense financial dashboards and complex navigation.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1148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85041"/>
                </a:solidFill>
                <a:latin typeface="Segoe UI"/>
              </a:rPr>
              <a:t>Farm Owners &amp; Co-op Managers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98755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C5C57"/>
                </a:solidFill>
                <a:latin typeface="Segoe UI"/>
              </a:rPr>
              <a:t>Tech-literate professionals demanding deep data control.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664208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664208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7556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73736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Financial 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0482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Need FCFA expense logs, budget caps, and live ROI calculations.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268833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688336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7797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76148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Predictive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07238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Rely on Scikit-learn to forecast seasonal crop yields.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371246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3712464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78561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Team Command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0965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Require instant WebSocket messaging, task delegation &amp; progress tracking.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4736592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4736592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48280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809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Spatial Overview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120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Multi-farm Leaflet maps, regional performance aggregation.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Solution: Role-Adaptive Dual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9FE1CB"/>
                </a:solidFill>
                <a:latin typeface="Segoe UI"/>
              </a:rPr>
              <a:t>One platform. Two intelligently matched experiences delivered automatically based on user role.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0" y="1874519"/>
            <a:ext cx="1581912" cy="475488"/>
          </a:xfrm>
          <a:prstGeom prst="roundRect">
            <a:avLst>
              <a:gd name="adj" fmla="val 26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21808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ROLE 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4663440" cy="5029200"/>
          </a:xfrm>
          <a:prstGeom prst="roundRect">
            <a:avLst/>
          </a:prstGeom>
          <a:gradFill>
            <a:gsLst>
              <a:gs pos="0">
                <a:srgbClr val="087058"/>
              </a:gs>
              <a:gs pos="100000">
                <a:srgbClr val="08504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9FE1CB"/>
                </a:solidFill>
                <a:latin typeface="Segoe UI"/>
              </a:rPr>
              <a:t>🌿  BAAY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Lighter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FE1CB"/>
                </a:solidFill>
                <a:latin typeface="Segoe UI"/>
              </a:rPr>
              <a:t>Auto-activated for Ouvriers, smallholders &amp; low-literacy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Voice-First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478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Record Wolof/Bambara instructions. No typing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9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Icon-Driven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15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Agricultural symbols replace text: droplets, leaves,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371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Offline-First PWA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840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Works with zero signal. Syncs on 2G reconnection.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96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605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Giant Touch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48×48px min buttons, large +/– counters, high contrast.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8312" y="1463040"/>
            <a:ext cx="4663440" cy="5029200"/>
          </a:xfrm>
          <a:prstGeom prst="roundRect">
            <a:avLst/>
          </a:prstGeom>
          <a:gradFill>
            <a:gsLst>
              <a:gs pos="0">
                <a:srgbClr val="EF9F27"/>
              </a:gs>
              <a:gs pos="100000">
                <a:srgbClr val="D98A1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69164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⚡  BAAY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Full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27889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DD"/>
                </a:solidFill>
                <a:latin typeface="Segoe UI"/>
              </a:rPr>
              <a:t>Auto-activated for Owners, Managers &amp; Agronomists.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30098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Financial Cockpit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5478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Budget, expenses, ROI analytics (FCFA) &amp; overrun alerts.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059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40690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AI Yield 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315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Scikit-learn predictions with confidence indices.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48280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8371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WebSocket Messagerie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Live chat drawer, emoji reactions, read receipts.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5596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605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Spatial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Multi-farm Leaflet maps, cooperative aggregate views.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3657600"/>
            <a:ext cx="1490472" cy="50292"/>
          </a:xfrm>
          <a:prstGeom prst="rect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64608" y="3579876"/>
            <a:ext cx="201168" cy="201168"/>
          </a:xfrm>
          <a:prstGeom prst="ellipse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23176" y="3579876"/>
            <a:ext cx="201168" cy="201168"/>
          </a:xfrm>
          <a:prstGeom prst="ellipse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04 / 08</a:t>
            </a:r>
          </a:p>
        </p:txBody>
      </p:sp>
    </p:spTree>
    <p:bgPr>
      <a:gradFill>
        <a:gsLst>
          <a:gs pos="0">
            <a:srgbClr val="04342C"/>
          </a:gs>
          <a:gs pos="45000">
            <a:srgbClr val="085041"/>
          </a:gs>
          <a:gs pos="100000">
            <a:srgbClr val="065544"/>
          </a:gs>
        </a:gsLst>
        <a:lin ang="5400000" scaled="0"/>
      </a:gradFill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Baay Simple: Designed for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Zero-learning-curve UX for outdoor, low-literacy, and low-bandwidth contexts.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3639312" cy="4937760"/>
          </a:xfrm>
          <a:prstGeom prst="roundRect">
            <a:avLst/>
          </a:prstGeom>
          <a:gradFill>
            <a:gsLst>
              <a:gs pos="0">
                <a:srgbClr val="1D9E75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1D9E75"/>
                </a:solidFill>
                <a:latin typeface="Segoe UI"/>
              </a:rPr>
              <a:t>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Voice-First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Tap-and-hold microphone button for audio messages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Works in Wolof, Bambara, Pulaar without typing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Voice tooltip speaker explains every label aloud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Audio messages saved to Cloudinary — playable offline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Enables illiterate workers to participate fully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639312" cy="4937760"/>
          </a:xfrm>
          <a:prstGeom prst="roundRect">
            <a:avLst/>
          </a:prstGeom>
          <a:gradFill>
            <a:gsLst>
              <a:gs pos="0">
                <a:srgbClr val="EF9F27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EF9F27"/>
                </a:solidFill>
                <a:latin typeface="Segoe U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Icon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Crop icons replace French text: 💧 water, 🌿 fertilize, 🔪 harvest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Color-coded statuses: Green=OK, Yellow=Attention, Red=Alert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Large +/– numeric counters replace keyboard typing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Minimum 48×48px touch targets for gloved/outdoor hands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Consistent symbols across every task category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72768"/>
            <a:ext cx="3639312" cy="4937760"/>
          </a:xfrm>
          <a:prstGeom prst="roundRect">
            <a:avLst/>
          </a:prstGeom>
          <a:gradFill>
            <a:gsLst>
              <a:gs pos="0">
                <a:srgbClr val="085041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085041"/>
                </a:solidFill>
                <a:latin typeface="Segoe UI"/>
              </a:rPr>
              <a:t>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Offline-First PWA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Service Worker (sw.js) caches entire UI locally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Workers log check-offs in remote fields with zero signal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Intelligent sync queue uploads data on 2G reconnect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Installable as native-feel app on Android home screen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Automatic conflict resolution on multi-worker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05 / 08</a:t>
            </a:r>
          </a:p>
        </p:txBody>
      </p:sp>
    </p:spTree>
    <p:bgPr>
      <a:gradFill>
        <a:gsLst>
          <a:gs pos="0">
            <a:srgbClr val="FFFFFF"/>
          </a:gs>
          <a:gs pos="100000">
            <a:srgbClr val="E1F5EE"/>
          </a:gs>
        </a:gsLst>
        <a:lin ang="5400000" scaled="0"/>
      </a:gradFill>
    </p:bgPr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Strategic Pricing: 3-Tier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9FE1CB"/>
                </a:solidFill>
                <a:latin typeface="Segoe UI"/>
              </a:rPr>
              <a:t>Sahel-adapted tiers built around Mobile Money (Wave / Orange Money) and seasonal cash 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82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81528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Basique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1D9E75"/>
                </a:solidFill>
                <a:latin typeface="Segoe UI"/>
              </a:rPr>
              <a:t>Individual Smallholders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0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Forever 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337560"/>
            <a:ext cx="3200400" cy="3657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1 Farm profile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Up to 3 farm members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Baay Simple visual UI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Basic local weather alerts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Marketplace read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D9E75"/>
                </a:solidFill>
                <a:latin typeface="Segoe UI"/>
              </a:rPr>
              <a:t>GTM funnel. Drives adoption
and builds crop data network.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463040"/>
            <a:ext cx="3657600" cy="8229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86016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EF9F27"/>
                </a:solidFill>
                <a:latin typeface="Segoe UI"/>
              </a:rPr>
              <a:t>Commercial Farm Owners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5,000 FCFA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/ month per farm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337560"/>
            <a:ext cx="3200400" cy="3657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Up to 3 farms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Unlimited members &amp; roles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Full financial cockpit (FCFA)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Scikit-learn yield AI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Real-time WebSocket chat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7136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F9F27"/>
                </a:solidFill>
                <a:latin typeface="Segoe UI"/>
              </a:rPr>
              <a:t>Recurring SaaS revenue.
Annual: 45,000 FCFA (1 harvest).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0455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5" y="1463040"/>
            <a:ext cx="3657600" cy="8229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90503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90503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B2B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3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Coopérative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3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DCAA5"/>
                </a:solidFill>
                <a:latin typeface="Segoe UI"/>
              </a:rPr>
              <a:t>Cooperatives · NGOs · Gov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3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500 FCFA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3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/ farmer / month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3" y="3337560"/>
            <a:ext cx="3200400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1623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Multi-tenant admin panel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Aggregate yield modeling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Bulk SMS broadcast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Custom voice language packs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Priority onboarding support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21623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3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DCAA5"/>
                </a:solidFill>
                <a:latin typeface="Segoe UI"/>
              </a:rPr>
              <a:t>High-value B2B/Grant billing.
Funded by NGO &amp; development orgs.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06 / 08</a:t>
            </a:r>
          </a:p>
        </p:txBody>
      </p:sp>
    </p:spTree>
    <p:bgPr>
      <a:gradFill>
        <a:gsLst>
          <a:gs pos="0">
            <a:srgbClr val="04342C"/>
          </a:gs>
          <a:gs pos="100000">
            <a:srgbClr val="085041"/>
          </a:gs>
        </a:gsLst>
        <a:lin ang="5400000" scaled="0"/>
      </a:gradFill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Go-To-Market: A 3-Phase Sahelian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Physical-first, trust-driven strategy. Rural agriculture demands presence, not just digital 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79776"/>
            <a:ext cx="11094415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6544" y="2615184"/>
            <a:ext cx="384048" cy="38404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6544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The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Weeks 1 –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90672"/>
            <a:ext cx="50292" cy="33832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44291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1" i="0">
                <a:solidFill>
                  <a:srgbClr val="085041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674059"/>
            <a:ext cx="3017520" cy="2646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Select 5 tech-savvy farm managers in Niayes / Saint-Louis basin.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Deploy Baay Pro free — observe, measure, iterate daily.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Co-design the Simple UI: sit with field workers to test icons &amp; voice.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Collect baseline yield and task-completion benchmark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769864" y="2615184"/>
            <a:ext cx="384048" cy="384048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9864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Louma Outreach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Weeks 9 –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090672"/>
            <a:ext cx="50292" cy="33832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244291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1" i="0">
                <a:solidFill>
                  <a:srgbClr val="085041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74059"/>
            <a:ext cx="3017520" cy="2646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Set up mobile booths at weekly rural market days (Loumas).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Live demo: register a farm, get weather alert in 60 seconds.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Guide farmers to bookmark PWA on Android home screens.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Form alliance with onion, tomato, and rice grower federations.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9473183" y="2615184"/>
            <a:ext cx="384048" cy="384048"/>
          </a:xfrm>
          <a:prstGeom prst="ellipse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3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B2B Scaling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Months 6+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090672"/>
            <a:ext cx="50292" cy="338328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1" y="3244291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" b="1" i="0">
                <a:solidFill>
                  <a:srgbClr val="085041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3674059"/>
            <a:ext cx="3017520" cy="2646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Pitch aggregate cooperative dashboards to FAO, USAID, GIZ.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Offer agri-input sponsors (seed/fertilizer) marketplace slots.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Launch seasonal bulk-SMS harvest alert subscriptions.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Expand to second market (Mali, Burkina Faso, Guinea-Bissau).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07 / 08</a:t>
            </a:r>
          </a:p>
        </p:txBody>
      </p:sp>
    </p:spTree>
    <p:bgPr>
      <a:gradFill>
        <a:gsLst>
          <a:gs pos="0">
            <a:srgbClr val="E1F5EE"/>
          </a:gs>
          <a:gs pos="100000">
            <a:srgbClr val="FFFFFF"/>
          </a:gs>
        </a:gsLst>
        <a:lin ang="5400000" scaled="0"/>
      </a:gradFill>
    </p:bgPr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457200"/>
            <a:ext cx="2926080" cy="2926080"/>
          </a:xfrm>
          <a:prstGeom prst="ellipse">
            <a:avLst/>
          </a:prstGeom>
          <a:solidFill>
            <a:srgbClr val="0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91440"/>
            <a:ext cx="1828800" cy="1828800"/>
          </a:xfrm>
          <a:prstGeom prst="ellipse">
            <a:avLst/>
          </a:prstGeom>
          <a:solidFill>
            <a:srgbClr val="0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48640"/>
            <a:ext cx="914400" cy="9144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685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9FE1CB"/>
                </a:solidFill>
                <a:latin typeface="Segoe UI"/>
              </a:rPr>
              <a:t>IMMEDIATE 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Engineering &amp; Business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212080" cy="640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30552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Milestone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48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Configure Role-Based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Update baay/permissions.py + views.py so Ouvrier roles auto-route to /dashboard/simple/ with the light visual template.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6596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965960"/>
            <a:ext cx="5212080" cy="640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2130552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148840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Milestone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48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Build dashboard_simple.html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Mobile-first, offline-ready template: icon task grid, +/– counters, giant voice button, and color-coded status cards.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79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79"/>
            <a:ext cx="5212080" cy="640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33671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251959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Milestone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5195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Wire Audio Recording in Messagerie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36007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Add tap-and-hold microphone in WebSocket chat consumer. Save audio to Cloudinary. Support Wolof/Bambara playback.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069079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069079"/>
            <a:ext cx="521208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4233671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251959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Milestone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425195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Integrate Mobile Money Webhooks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36007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Connect Wave &amp; Orange Money IPN endpoints. Add subscription_tier field to Ferme model. Gate Pro views behind tier check.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2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318504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FE1CB"/>
                </a:solidFill>
                <a:latin typeface="Segoe UI"/>
              </a:rPr>
              <a:t>"Andd Baay"  —  Wolof for  'Cultivate Together'   |   Designed for the Field. Built for the Future.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08 / 08</a:t>
            </a:r>
          </a:p>
        </p:txBody>
      </p:sp>
    </p:spTree>
    <p:bgPr>
      <a:gradFill>
        <a:gsLst>
          <a:gs pos="0">
            <a:srgbClr val="04342C"/>
          </a:gs>
          <a:gs pos="55000">
            <a:srgbClr val="085041"/>
          </a:gs>
          <a:gs pos="100000">
            <a:srgbClr val="07604E"/>
          </a:gs>
        </a:gsLst>
        <a:lin ang="5400000" scaled="0"/>
      </a:gradFill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